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  <a:latin typeface="맑은 고딕"/>
              </a:rPr>
              <a:t>간접구매 AI 상담도우미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시스템 구현 및 설계 문서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319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0D9488"/>
                </a:solidFill>
                <a:latin typeface="맑은 고딕"/>
              </a:rPr>
              <a:t>(업무마켓9)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4864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BBBBBB"/>
                </a:solidFill>
                <a:latin typeface="맑은 고딕"/>
              </a:rPr>
              <a:t>프로젝트명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: 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간접구매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 AI 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상담도우미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구축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
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문서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버전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: v1.0  |  </a:t>
            </a:r>
            <a:r>
              <a:rPr sz="1300" b="0" dirty="0" err="1">
                <a:solidFill>
                  <a:srgbClr val="BBBBBB"/>
                </a:solidFill>
                <a:latin typeface="맑은 고딕"/>
              </a:rPr>
              <a:t>작성일</a:t>
            </a:r>
            <a:r>
              <a:rPr sz="1300" b="0" dirty="0">
                <a:solidFill>
                  <a:srgbClr val="BBBBBB"/>
                </a:solidFill>
                <a:latin typeface="맑은 고딕"/>
              </a:rPr>
              <a:t>: 2026. 03. 08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목차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05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외부망/내부망 아키텍처, 기술 스택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0078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기술 스택 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808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Gemini AI, Embedding 1536, pgvector, 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0370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28600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멀티에이전트 오케스트레이션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11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7개 전문 에이전트 역할 및 병렬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70662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278892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88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RAG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14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벡터검색 + BM25 + RRF 리랭킹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0954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329184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91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데이터베이스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17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8개 테이블 스키마, HNSW 벡터 인덱스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71246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379476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794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챗봇 상담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82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자연어 질의 → AI 실시간 스트리밍 답변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21538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429768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297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RFP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2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4단계 페이즈 전환, 9개 RFP 유형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71830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4400" y="480060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800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공급업체 추천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82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카테고리 매칭, PDF 다운로드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22122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530352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303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관리자 포털 가이드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328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지식베이스, 헌법, 사용자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72414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4400" y="580644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806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QA 테스트 체크리스트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831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68개 점검 항목, 판정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622706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01  시스템 구성도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66666"/>
                </a:solidFill>
                <a:latin typeface="맑은 고딕"/>
              </a:rPr>
              <a:t>업무마켓9 — IP Assist | (주)</a:t>
            </a:r>
            <a:r>
              <a:rPr sz="800" dirty="0" err="1">
                <a:solidFill>
                  <a:srgbClr val="666666"/>
                </a:solidFill>
                <a:latin typeface="맑은 고딕"/>
              </a:rPr>
              <a:t>캐스팅엔</a:t>
            </a:r>
            <a:r>
              <a:rPr sz="800" dirty="0">
                <a:solidFill>
                  <a:srgbClr val="666666"/>
                </a:solidFill>
                <a:latin typeface="맑은 고딕"/>
              </a:rPr>
              <a:t> | 2026.03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828800" cy="4754880"/>
          </a:xfrm>
          <a:prstGeom prst="rect">
            <a:avLst/>
          </a:prstGeom>
          <a:solidFill>
            <a:srgbClr val="FFF8E1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</a:rPr>
              <a:t>외부망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사용자
(웹 브라우저)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관리자
(관리 포털)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Google Gemini
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280160"/>
            <a:ext cx="9326880" cy="4754880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내부망 (클라우드)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1554480" cy="82296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D9488"/>
                </a:solidFill>
                <a:latin typeface="맑은 고딕"/>
              </a:rPr>
              <a:t>Firebase Hosting
CDN / SSL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920240"/>
            <a:ext cx="1554480" cy="82296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D9488"/>
                </a:solidFill>
                <a:latin typeface="맑은 고딕"/>
              </a:rPr>
              <a:t>Frontend (SPA)
React 19 + Vite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HTTPS
SSE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737360"/>
            <a:ext cx="27432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맑은 고딕"/>
              </a:rPr>
              <a:t>FastAPI Backend (Cloud Run)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4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RFP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5048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Suppliers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3746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1890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RAG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0032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Constitution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A580C"/>
                </a:solidFill>
                <a:latin typeface="맑은 고딕"/>
              </a:rPr>
              <a:t>Vector + BM25 + RRF 리랭킹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20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맑은 고딕"/>
              </a:rPr>
              <a:t>멀티에이전트 (7개 병렬 오케스트레이션)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2011680"/>
            <a:ext cx="1188720" cy="10972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C3AED"/>
                </a:solidFill>
                <a:latin typeface="맑은 고딕"/>
              </a:rPr>
              <a:t>Supabase
PostgreSQL
pgvector
1536차원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200400"/>
            <a:ext cx="411480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0" y="3246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맑은 고딕"/>
              </a:rPr>
              <a:t>AI / ML 서비스 (Google Gemini)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787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2.5 Flash
RAG 답변 생성
스트리밍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947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Flash-Lite
데이터 정제
의도 분류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107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Embedding
문서 벡터화
1536차원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Cloud Run
asia-northeast3
min-instances: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Firebase Hosting
CDN 글로벌 배포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Supabase
ap-northeast-2
서울 리전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Docker
Python 3.11-slim
컨테이너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937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맑은 고딕"/>
              </a:rPr>
              <a:t>■ 프론트엔드/API
■ AI/ML 서비스
■ 데이터베이스
■ 인프라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02  기술 스택 상세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Technology Stack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896929"/>
              </p:ext>
            </p:extLst>
          </p:nvPr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상세 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Frontend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React + Vite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19.2 / 7.3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SPA, React Router DOM 7, jsPDF PDF 생성, SSE 실시간 수신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Backend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Python 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3.11 / 0.115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Uvicorn ASGI, SSE 스트리밍, CORS, 멀티에이전트 오케스트레이션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AI 생성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2.5 Flash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답변 생성, 토큰 단위 스트리밍, 분류/제안/필드추출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AI 정제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2.5 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데이터 정제, 의도 분류, 후속 질문 생성 (비용 효율)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Embedding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Embedding 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1536차원 벡터 임베딩, RETRIEVAL_DOCUMENT / RETRIEVAL_QUERY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Vector DB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PostgreSQL + pgvector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15+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Supabase 호스팅, HNSW 인덱스 (m=16, ef=64), 코사인 유사도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rank-bm25 + RRF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0.2.2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BM25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키워드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Reciprocal Rank Fusion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리랭킹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(k=</a:t>
                      </a:r>
                      <a: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Frontend 호스팅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Firebase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글로벌 CDN, SSL, SPA 리라이트, JS/CSS 1년 캐시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Backend 호스팅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Google Cloud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asia-northeast3 (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), min-instances=1, Docker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컨테이너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577840"/>
            <a:ext cx="17373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임베딩 차원: 1536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577840"/>
            <a:ext cx="17373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벡터 인덱스: HNSW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577840"/>
            <a:ext cx="1737360" cy="36576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RRF k=60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577840"/>
            <a:ext cx="1737360" cy="36576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FAQ Boost 1.5x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577840"/>
            <a:ext cx="1737360" cy="36576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min-instances: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577840"/>
            <a:ext cx="17373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P95 응답: ~2.5s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03  멀티에이전트 오케스트레이션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Multi-Agent Orchestration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96926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AI 모델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실행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에이전트 실행 순서 결정, 병렬 관리, SSE 스트림 조율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항상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의도 분류 (구매/질문/RFP동의/필드입력), RFP 유형 추천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병렬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Embedding-001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하이브리드 검색 (Vector+BM25+FAQ), RRF 리랭킹, 상위 5개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병렬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Constitution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Embedding-001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사전검사(위반탐지), 규칙주입(컨텍스트보강), 사후검증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순차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컨텍스트 기반 답변 생성, SSE 토큰 스트리밍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순차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Suggestion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후속 질문 3~5개 생성 (비블로킹)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Extractor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대화에서 RFP 필드 자동 추출 (사업명, 예산, 기간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조건부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Prefetcher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Embedding-001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다음 질문 예측, 검색 결과 사전 캐싱 (5분 TTL)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오케스트레이션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371600" cy="777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① 헌법
사전검사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5486400"/>
            <a:ext cx="1371600" cy="777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② 페이즈
트리거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486400"/>
            <a:ext cx="137160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③ 병렬 실행
Classification
+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5486400"/>
            <a:ext cx="1371600" cy="7772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④ 헌법
규칙 주입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486400"/>
            <a:ext cx="137160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⑤ Generation
SSE 스트리밍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5486400"/>
            <a:ext cx="1371600" cy="77724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⑥ 사후검증
(비동기)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5486400"/>
            <a:ext cx="1371600" cy="77724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⑦ 후속질문
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04  RAG 파이프라인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Retrieval-Augmented Generation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문서 인제스션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PDF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관리자가 PDF 파일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텍스트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pdfplumber로 페이지별 텍스트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62656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626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청크 분할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912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400토큰 단위, 50토큰 오버랩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AI 정제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96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Gemini Flash-Lite로 노이즈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782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79392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벡터 임베딩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079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Gemini Embedding 001 → 1536차원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365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59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DB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Supabase knowledge_chunks + HNSW 인덱스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하이브리드 검색 + RRF 리랭킹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645920"/>
            <a:ext cx="1554480" cy="10058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FAQ 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검색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
Boost: 1.5x
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임계값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: 0.</a:t>
            </a:r>
            <a:r>
              <a:rPr lang="en-US" sz="900" b="1" dirty="0">
                <a:solidFill>
                  <a:srgbClr val="FFFFFF"/>
                </a:solidFill>
                <a:latin typeface="맑은 고딕"/>
              </a:rPr>
              <a:t>6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645920"/>
            <a:ext cx="1554480" cy="10058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BM25 검색
Boost: 1.2x
키워드 매칭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155448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Vector 검색
Boost: 1.0x
임계값: 0.75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맑은 고딕"/>
              </a:rPr>
              <a:t>▼  ThreadPoolExecutor 병렬 실행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108960"/>
            <a:ext cx="5212080" cy="1097280"/>
          </a:xfrm>
          <a:prstGeom prst="rect">
            <a:avLst/>
          </a:prstGeom>
          <a:solidFill>
            <a:srgbClr val="F8F8F8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</a:rPr>
              <a:t>RRF (Reciprocal Rank Fusion)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15287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666666"/>
                </a:solidFill>
                <a:latin typeface="맑은 고딕"/>
              </a:rPr>
              <a:t>3개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소스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결과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통합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→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중복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제거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→ RRF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점수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계산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→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상위</a:t>
            </a:r>
            <a:r>
              <a:rPr sz="900" b="0" dirty="0">
                <a:solidFill>
                  <a:srgbClr val="666666"/>
                </a:solidFill>
                <a:latin typeface="맑은 고딕"/>
              </a:rPr>
              <a:t> 5개 </a:t>
            </a:r>
            <a:r>
              <a:rPr sz="900" b="0" dirty="0" err="1">
                <a:solidFill>
                  <a:srgbClr val="666666"/>
                </a:solidFill>
                <a:latin typeface="맑은 고딕"/>
              </a:rPr>
              <a:t>선정</a:t>
            </a:r>
            <a:endParaRPr sz="900" b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검색 성능 (병렬 실행 효과)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943600" y="484632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이전 (순차)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현재 (병렬+RRF)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FAQ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~100ms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BM25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~150ms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Vector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~200ms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~450ms (순차 누적)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~210ms (병렬+RRF)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50%↓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05  데이터베이스 설계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Supabase PostgreSQL + pgvector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0972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테이블명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컬럼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인덱스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knowledge_chunks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category, doc_name, content, embedding(1536),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HNSW (embedding), B-tree (category, doc_name)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벡터 검색 대상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knowledge_faq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category, question, answer, embedding(1536)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HNSW (embedding)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FAQ 우선 검색 (boost 1.5x)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conversations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session_id, messages(jsonb), rfp_data, rag_score,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 이력 + RFP 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constitution_rules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rule_type, content, embedding(1536), is_active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 (헌법 규칙)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suppliers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name, category, score(0-20), match_rate(0-100), tags[]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B-tree (category)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DB + 매칭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admin_users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name, email(UNIQUE), password_hash, role, 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B-tree (email)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인증 +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rfp_requests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session_id, rfp_type, title, fields(jsonb),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신청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rfp_templates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type_key, name, fields(jsonb), sections[]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양식 정의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벡터 검색 함수: match_chunks()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77840"/>
            <a:ext cx="502920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match_chunks(query_embedding, match_count=5, category_filter=NULL)
→ HNSW 인덱스 코사인 유사도 검색
→ 1-(embedding &lt;=&gt; query) = similarity
→ 카테고리 필터 + 상위 K개 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5318" y="454869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AI 헌법 (가드레일) 규칙 6개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391086"/>
              </p:ext>
            </p:extLst>
          </p:nvPr>
        </p:nvGraphicFramePr>
        <p:xfrm>
          <a:off x="6015318" y="4914453"/>
          <a:ext cx="53035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규칙 내용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검사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거부조건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특정 업체를 이유 없이 추천/선호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사전+사후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근거 문서에 없는 조항 임의 추가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수치기준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계약금액은 분류체계 문서 수치 인용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법적 판단 요구 시 전문가 상담 권고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사전+사후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거부조건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개인정보 학습/기억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답변에 RAG 근거 문서 출처 명시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06  이용자 가이드 — 챗봇 상담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User Guide: AI Chat Consultation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468880" cy="13716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1
Chat (상담)
자유 질의응답
RAG 기반 답변
출처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468880" cy="1371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2
Asked (제안)
구매 의도 감지
RFP 작성 제안
사용자 동의 대기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468880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3
Filling (작성)
RFP 유형 선택
필드 입력
자동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371600"/>
            <a:ext cx="2468880" cy="137160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4
Complete (완료)
PDF 다운로드
공급업체 추천
세션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챗봇 사용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웹 브라우저 접속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0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챗봇 URL 접속 → 왼쪽 채팅 영역 + 오른쪽 RFP 패널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자연어 질문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48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하단 입력창에 질문 입력. 예: "교육 서비스 구매 절차가 어떻게 되나요?"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AI 실시간 답변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97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SSE 스트리밍으로 한 글자씩 답변 표시. 하단에 근거 문서 출처 명시.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39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후속 질문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46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답변 후 3~5개 후속 질문 제안 버튼 표시. 클릭 시 해당 질문 자동 전송.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구매 의도 자동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94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AI가 구매 의도 인식 → "RFP를 작성해 드릴까요?" 자동 제안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EA580C"/>
                </a:solidFill>
                <a:latin typeface="맑은 고딕"/>
              </a:rPr>
              <a:t>TIP: 구체적 질문일수록 정확한 답변!   "구매하고 싶어요" → "법정의무교육 위탁 운영 서비스를 200명 규모로 구매하고 싶습니다"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07-08  RFP 작성 &amp; 공급업체 추천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RFP Generation Flow &amp; Supplier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RFP 유형 (9종)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45920" cy="347472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물품 구매 계약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459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용역 계약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수리/유지보수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리스/임대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공사/시설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컨설팅/자문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물품+유지보수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임대+유지보수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구매 또는 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RFP 작성 방법 (2가지)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2468880" cy="13716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방법 1 — 대화로 입력 (권장)
채팅으로 자연어 입력
→ AI가 필드 자동 추출
→ RFP 패널에 자동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4688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방법 2 — 직접 입력
오른쪽 RFP 패널의
각 필드를 클릭하여
직접 값을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PDF 다운로드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• 필수 필드 100% 입력 시 다운로드 가능
• 나라장터 스타일 공식 문서 형태
• 구성: 사업명, 발주기관, 담당자, 기간, 목표, 내용, 평가기준, 서명란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공급업체 추천 프로세스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45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RFP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874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필수 필드 100% → Complete 페이즈 전환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4028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카테고리 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RFP 카테고리 기반 공급업체 DB 검색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83464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추천 목록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매칭률(%), 만족도 점수, 태그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42900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29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업체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추천 목록에서 업체 선택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2336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RFP 전송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선택한 업체에 제안요청서 전달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7297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공급업체 데이터 구조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88210"/>
              </p:ext>
            </p:extLst>
          </p:nvPr>
        </p:nvGraphicFramePr>
        <p:xfrm>
          <a:off x="6217920" y="5031889"/>
          <a:ext cx="5029200" cy="167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간접구매 카테고리 (교육, IT, 시설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0~20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만족도 평점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match_rate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0~100%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매칭률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tags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array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특성 태그 (ESG, 중소기업, 여성기업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status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(active / review / inactive)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09  관리자 포털 가이드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Admin Portal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09728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메뉴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상세 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시스템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 청크 수, 대화 수, 공급업체 수, 헌법 조항 수 통계 카드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지식베이스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+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→ 자동 인제스션. 카테고리별 청크/FAQ/문서 수 확인. 10건 페이지네이션.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헌법 관리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거부조건/행동제어/수치기준 3유형 규칙 추가/수정/삭제. 삭제 확인 모달. 자동 임베딩.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대화 이력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세션별 대화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사용자명, 부서, 카테고리, RAG 점수, 상태 필터링. 세션 클릭 시 전체 대화 표시.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 신청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제출된 RFP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목록 조회, 상태 변경(제출/승인/반려),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 양식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양식 편집기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유형별 섹션/필드 구조 정의, 신규 생성/수정/삭제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공급업체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 DB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 등록/수정/삭제, CSV 일괄 등록, 카테고리/상태 필터링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사용자 관리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계정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이름/이메일/비밀번호/역할/부서. 역할: superadmin/admin/viewer. 활성화 토글.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테스트 가능 카테고리 (지식베이스 현황)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현재 청킹 완료된 18개 카테고리 — 전체 분류체계의 약 10%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아래 18개 카테고리에 대해 RAG 기반 상담 및 RFP 생성 테스트가 가능합니다. (전체 분류체계의 약 10% 수준)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8138160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청크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FAQ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문서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범위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OA기기 렌탈 및 유지보수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PC·노트북·모니터·워크스테이션 구매·리스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건강검진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계측기 구매·리스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공기청정기 렌탈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공장용 소모품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법무·노무 자문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복합기·프린터 유지보수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사무가구 구매 및 유지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사무실 인테리어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생산장비 구매·수리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운전용역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의약품 구매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임원차량 리스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청소·소독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칸막이(파티션) 레이아웃 공사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택배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회계·세무 용역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합계:  782 청크  |  1,000 FAQ  |  77 문서  |  18 카테고리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10  QA 테스트 체크리스트 (1/2)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챗봇 기능 + 페이즈 전환 + RFP + AI 품질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43000"/>
          <a:ext cx="8229600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항목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P/F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챗봇 URL 접속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페이지 정상 로딩, 채팅 입력창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일반 질문 입력 ("간접구매란?")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실시간 스트리밍 답변 + 근거 출처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SSE 스트리밍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텍스트가 한 글자씩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후속 질문 제안 버튼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답변 후 3~5개 제안 표시, 클릭 시 전송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연속 대화 5회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 이력 유지, 컨텍스트 반영 답변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구매 의도 감지 ("교육 구매하고 싶다")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AI가 구매 의도 인식, RFP 작성 제안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동의 ("네, 작성해 주세요")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 선택 화면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 선택 (9개)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카드 표시, 추천 뱃지, 선택 시 패널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대화로 필드 자동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패널에 자동 값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진행률 바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필드 입력 시 실시간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완료 → Complete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필수 필드 100% 시 Complete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나라장터 스타일 PDF 생성, 한글 정상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추천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매칭 업체 목록 + 점수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가드레일: 업체 추천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특정 업체 추천 요청 시 공정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가드레일: 법적 판단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법적 판단 요구 시 전문가 상담 권고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환각 방지 (없는 정보)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지식베이스에 없는 내용 생성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출처 정확성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표시된 출처가 실제 답변 내용과 관련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10  QA 테스트 체크리스트 (2/2)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관리자 포털 + 비기능 테스트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43000"/>
          <a:ext cx="8229600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항목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P/F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정상 로그인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올바른 계정 입력 시 대시보드 진입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잘못된 비밀번호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오류 메시지 "비밀번호가 일치하지 않습니다"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통계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4개 카드 숫자 정상 표시, 1초 이내 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(지식베이스)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업로드 → 자동 인제스션 → 성공 메시지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 페이지네이션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10건 단위 페이징 정상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헌법 규칙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유형 선택 → 내용 입력 → 저장 → 목록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헌법 규칙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삭제 버튼 → 확인 모달 → 삭제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 이력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세션별 대화 목록 + 상세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필수 정보 입력 → 저장 → 목록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CSV 일괄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CSV 업로드 → N건 등록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사용자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이름/이메일/비밀번호/역할 → 생성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중복 이메일 방지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이미 등록된 이메일 → 오류 메시지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HTTPS 통신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모든 통신 HTTPS (자물쇠 아이콘)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채팅 P95 응답 시간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첫 토큰까지 3초 이내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Chrome / Edge 호환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전 기능 정상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모바일 반응형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모바일 브라우저 레이아웃 정상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인쇄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A4 사이즈 정상 인쇄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2809</Words>
  <Application>Microsoft Office PowerPoint</Application>
  <PresentationFormat>와이드스크린</PresentationFormat>
  <Paragraphs>717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범석 유</cp:lastModifiedBy>
  <cp:revision>3</cp:revision>
  <dcterms:created xsi:type="dcterms:W3CDTF">2013-01-27T09:14:16Z</dcterms:created>
  <dcterms:modified xsi:type="dcterms:W3CDTF">2026-03-08T06:35:44Z</dcterms:modified>
  <cp:category/>
</cp:coreProperties>
</file>