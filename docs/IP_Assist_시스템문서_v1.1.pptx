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  <a:latin typeface="맑은 고딕"/>
              </a:rPr>
              <a:t>간접구매 AI 상담도우미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시스템 구현 및 설계 문서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00400"/>
            <a:ext cx="393192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맑은 고딕"/>
              </a:rPr>
              <a:t>IP Assist (업무마켓9)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548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BBBB"/>
                </a:solidFill>
                <a:latin typeface="맑은 고딕"/>
              </a:rPr>
              <a:t>프로젝트명: 간접구매 AI 상담도우미 구축
문서 버전: v1.1  |  작성일: 2026. 03. 10
작성: (주)캐스팅엔 개발팀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목차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시스템 구성도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305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외부망/내부망 아키텍처, 기술 스택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0078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78308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830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기술 스택 상세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808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Gemini AI, Embedding 1536, pgvector, FastAPI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0370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28600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286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멀티에이전트 오케스트레이션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311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7개 전문 에이전트 역할 및 병렬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70662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278892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788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RAG 파이프라인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814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벡터검색 + BM25 + RRF 리랭킹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20954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329184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918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데이터베이스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317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8개 테이블 스키마, HNSW 벡터 인덱스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71246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79476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794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이용자 가이드 — 챗봇 상담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82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자연어 질의 → AI 실시간 스트리밍 답변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21538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429768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2976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이용자 가이드 — RFP 작성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323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4단계 페이즈 전환, 9개 RFP 유형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471830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480060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8006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이용자 가이드 — 공급업체 추천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826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카테고리 매칭, PDF 다운로드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22122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" y="530352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3035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관리자 포털 가이드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328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지식베이스, 헌법, 사용자 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572414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4400" y="5806440"/>
            <a:ext cx="54864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8064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QA 테스트 체크리스트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831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68개 점검 항목, 판정 기준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6227064"/>
            <a:ext cx="10332720" cy="63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01  시스템 구성도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828800" cy="4754880"/>
          </a:xfrm>
          <a:prstGeom prst="rect">
            <a:avLst/>
          </a:prstGeom>
          <a:solidFill>
            <a:srgbClr val="FFF8E1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맑은 고딕"/>
              </a:rPr>
              <a:t>외부망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463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사용자
(웹 브라우저)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463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관리자
(관리 포털)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14630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Google Gemini
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280160"/>
            <a:ext cx="9326880" cy="4754880"/>
          </a:xfrm>
          <a:prstGeom prst="rect">
            <a:avLst/>
          </a:prstGeom>
          <a:solidFill>
            <a:srgbClr val="F5F5F5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내부망 (클라우드)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920240"/>
            <a:ext cx="1554480" cy="82296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9488"/>
                </a:solidFill>
                <a:latin typeface="맑은 고딕"/>
              </a:rPr>
              <a:t>Firebase Hosting
CDN / SSL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920240"/>
            <a:ext cx="1554480" cy="82296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D9488"/>
                </a:solidFill>
                <a:latin typeface="맑은 고딕"/>
              </a:rPr>
              <a:t>Frontend (SPA)
React 19 + Vite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맑은 고딕"/>
              </a:rPr>
              <a:t>HTTPS
SSE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737360"/>
            <a:ext cx="27432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맑은 고딕"/>
              </a:rPr>
              <a:t>FastAPI Backend (Cloud Run)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240280"/>
            <a:ext cx="475488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D9488"/>
                </a:solidFill>
                <a:latin typeface="맑은 고딕"/>
              </a:rPr>
              <a:t>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2984" y="2240280"/>
            <a:ext cx="475488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D9488"/>
                </a:solidFill>
                <a:latin typeface="맑은 고딕"/>
              </a:rPr>
              <a:t>RFP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5048" y="2240280"/>
            <a:ext cx="475488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D9488"/>
                </a:solidFill>
                <a:latin typeface="맑은 고딕"/>
              </a:rPr>
              <a:t>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7112" y="2240280"/>
            <a:ext cx="475488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D9488"/>
                </a:solidFill>
                <a:latin typeface="맑은 고딕"/>
              </a:rPr>
              <a:t>Suppliers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2240280"/>
            <a:ext cx="475488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D9488"/>
                </a:solidFill>
                <a:latin typeface="맑은 고딕"/>
              </a:rPr>
              <a:t>Admin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2743200"/>
            <a:ext cx="77724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EA580C"/>
                </a:solidFill>
                <a:latin typeface="맑은 고딕"/>
              </a:rPr>
              <a:t>Orchestrator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93608" y="2743200"/>
            <a:ext cx="77724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EA580C"/>
                </a:solidFill>
                <a:latin typeface="맑은 고딕"/>
              </a:rPr>
              <a:t>RAG 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2743200"/>
            <a:ext cx="777240" cy="29260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EA580C"/>
                </a:solidFill>
                <a:latin typeface="맑은 고딕"/>
              </a:rPr>
              <a:t>Constitution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00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A580C"/>
                </a:solidFill>
                <a:latin typeface="맑은 고딕"/>
              </a:rPr>
              <a:t>Vector + BM25 + RRF 리랭킹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520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A580C"/>
                </a:solidFill>
                <a:latin typeface="맑은 고딕"/>
              </a:rPr>
              <a:t>멀티에이전트 (7개 병렬 오케스트레이션)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24160" y="2011680"/>
            <a:ext cx="1188720" cy="109728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7C3AED"/>
                </a:solidFill>
                <a:latin typeface="맑은 고딕"/>
              </a:rPr>
              <a:t>Supabase
PostgreSQL
pgvector
1536차원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200400"/>
            <a:ext cx="4114800" cy="137160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32461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맑은 고딕"/>
              </a:rPr>
              <a:t>AI / ML 서비스 (Google Gemini)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3566160"/>
            <a:ext cx="1188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22222"/>
                </a:solidFill>
                <a:latin typeface="맑은 고딕"/>
              </a:rPr>
              <a:t>Gemini 2.5 Flash
RAG 답변 생성
스트리밍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566160"/>
            <a:ext cx="1188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22222"/>
                </a:solidFill>
                <a:latin typeface="맑은 고딕"/>
              </a:rPr>
              <a:t>Gemini Flash-Lite
데이터 정제
의도 분류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3566160"/>
            <a:ext cx="1188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22222"/>
                </a:solidFill>
                <a:latin typeface="맑은 고딕"/>
              </a:rPr>
              <a:t>Gemini Embedding
문서 벡터화
1536차원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4846320"/>
            <a:ext cx="1463040" cy="8229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Cloud Run
asia-northeast3
min-instances: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4846320"/>
            <a:ext cx="1463040" cy="8229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Firebase Hosting
CDN 글로벌 배포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846320"/>
            <a:ext cx="1463040" cy="8229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Supabase
ap-northeast-2
서울 리전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846320"/>
            <a:ext cx="1463040" cy="822960"/>
          </a:xfrm>
          <a:prstGeom prst="roundRect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Docker
Python 3.11-slim
컨테이너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4937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맑은 고딕"/>
              </a:rPr>
              <a:t>■ 프론트엔드/API
■ AI/ML 서비스
■ 데이터베이스
■ 인프라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02  기술 스택 상세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Technology Stack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1097280"/>
                <a:gridCol w="66751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계층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상세 설명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Frontend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React + Vite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19.2 / 7.3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SPA, React Router DOM 7, jsPDF PDF 생성, SSE 실시간 수신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Backend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Python FastAPI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3.11 / 0.115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Uvicorn ASGI, SSE 스트리밍, CORS, 멀티에이전트 오케스트레이션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AI 생성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Gemini 2.5 Flash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최신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RAG 답변 생성, 토큰 단위 스트리밍, 분류/제안/필드추출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AI 정제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Gemini 2.5 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최신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데이터 정제, 의도 분류, 후속 질문 생성 (비용 효율)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Embedding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Gemini Embedding 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최신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1536차원 벡터 임베딩, RETRIEVAL_DOCUMENT / RETRIEVAL_QUERY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Vector DB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PostgreSQL + pgvector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15+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Supabase 호스팅, HNSW 인덱스 (m=16, ef=64), 코사인 유사도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검색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rank-bm25 + RRF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0.2.2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BM25 키워드 검색, Reciprocal Rank Fusion 리랭킹 (k=60)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Frontend 호스팅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Firebase Hosting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글로벌 CDN, SSL, SPA 리라이트, JS/CSS 1년 캐시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Backend 호스팅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Google Cloud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asia-northeast3 (서울), min-instances=1, Docker 컨테이너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577840"/>
            <a:ext cx="17373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임베딩 차원: 1536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577840"/>
            <a:ext cx="17373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벡터 인덱스: HNSW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5577840"/>
            <a:ext cx="1737360" cy="36576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RRF k=60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577840"/>
            <a:ext cx="1737360" cy="36576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FAQ Boost 1.5x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5577840"/>
            <a:ext cx="1737360" cy="36576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min-instances: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5577840"/>
            <a:ext cx="17373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P95 응답: ~2.5s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03  멀티에이전트 오케스트레이션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Multi-Agent Orchestration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96926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371600"/>
                <a:gridCol w="1280160"/>
                <a:gridCol w="5943600"/>
                <a:gridCol w="7315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에이전트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AI 모델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실행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Orchestrator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에이전트 실행 순서 결정, 병렬 관리, SSE 스트림 조율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항상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의도 분류 (구매/질문/RFP동의/필드입력), RFP 유형 추천, 렌탈/리스 키워드 오버라이드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병렬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Retrieval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Embedding-001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하이브리드 검색 (Vector+BM25+FAQ), RRF 리랭킹, 상위 5개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병렬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Constitution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Embedding-001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사전검사(위반탐지), 규칙주입(컨텍스트보강), 사후검증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순차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RAG 컨텍스트 기반 답변 생성, SSE 토큰 스트리밍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순차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Suggestion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후속 질문 3~5개 생성 (비블로킹)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비동기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Extractor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Flash-Lite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대화에서 RFP 필드 자동 추출 + 의도 감지(field_input/question/rfp_question)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조건부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오케스트레이션 실행 순서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1371600" cy="77724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① 헌법
사전검사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5486400"/>
            <a:ext cx="1371600" cy="77724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② 페이즈
트리거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486400"/>
            <a:ext cx="1371600" cy="7772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③ 병렬 실행
Classification
+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5486400"/>
            <a:ext cx="1371600" cy="7772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④ 헌법
규칙 주입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5486400"/>
            <a:ext cx="1371600" cy="7772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⑤ Generation
SSE 스트리밍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5486400"/>
            <a:ext cx="1371600" cy="77724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⑥ 사후검증
(비동기)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5715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5486400"/>
            <a:ext cx="1371600" cy="77724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⑦ 후속질문
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04  RAG 파이프라인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Retrieval-Augmented Generation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문서 인제스션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PDF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관리자가 PDF 파일 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042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텍스트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328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pdfplumber로 페이지별 텍스트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6148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62656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626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청크 분할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912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400토큰 단위, 50토큰 오버랩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1985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21024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210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AI 정제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496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Gemini Flash-Lite로 노이즈 제거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7822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79392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93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벡터 임베딩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079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Gemini Embedding 001 → 1536차원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3659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9488"/>
                </a:solidFill>
                <a:latin typeface="맑은 고딕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37759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3775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DB 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6635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Supabase knowledge_chunks + HNSW 인덱스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하이브리드 검색 + RRF 리랭킹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1645920"/>
            <a:ext cx="1554480" cy="10058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FAQ 검색
Boost: 1.5x
임계값: 0.55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645920"/>
            <a:ext cx="1554480" cy="10058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BM25 검색
Boost: 1.2x
키워드 매칭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645920"/>
            <a:ext cx="1554480" cy="10058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Vector 검색
Boost: 1.0x
임계값: 0.75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43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맑은 고딕"/>
              </a:rPr>
              <a:t>▼  ThreadPoolExecutor 병렬 실행  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108960"/>
            <a:ext cx="5212080" cy="1097280"/>
          </a:xfrm>
          <a:prstGeom prst="rect">
            <a:avLst/>
          </a:prstGeom>
          <a:solidFill>
            <a:srgbClr val="F8F8F8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맑은 고딕"/>
              </a:rPr>
              <a:t>RRF (Reciprocal Rank Fusion)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5661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맑은 고딕"/>
              </a:rPr>
              <a:t>score(d) = Σ( boost_source / (k + rank(d)) )    k = 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840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맑은 고딕"/>
              </a:rPr>
              <a:t>3개 소스 결과 통합 → 중복 제거 → RRF 점수 계산 → 상위 5개 선정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검색 성능 (병렬 실행 효과)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943600" y="4846320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3716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이전 (순차)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현재 (병렬+RRF)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개선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FAQ 검색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~100ms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~100ms (병렬)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BM25 검색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~150ms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~150ms (병렬)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Vector 검색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~200ms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~200ms (병렬)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~450ms (순차 누적)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~210ms (병렬+RRF)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50%↓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05  데이터베이스 설계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Supabase PostgreSQL + pgvector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09728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2926080"/>
                <a:gridCol w="22860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테이블명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컬럼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인덱스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knowledge_chunks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category, doc_name, content, embedding(1536), metadata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HNSW (embedding), B-tree (category, doc_name)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RAG 벡터 검색 대상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knowledge_faq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category, question, answer, embedding(1536)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HNSW (embedding)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FAQ 우선 검색 (boost 1.5x)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conversations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session_id, messages(jsonb), category, rag_score,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B-tree (session_id)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대화 이력 자동 저장 (세션별 upsert)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constitution_rules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rule_type, content, embedding(1536), is_active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가드레일 (헌법 규칙)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suppliers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name, category, score(0-20), match_rate(0-100), tags[]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B-tree (category)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공급업체 DB + 매칭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admin_users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name, email(UNIQUE), password_hash, role, department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B-tree (email)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관리자 인증 + 권한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rfp_requests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session_id, rfp_type, title, org_name, requester, fields(jsonb),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RFP 신청 관리 (섹션별 필드 그룹핑)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rfp_templates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type_key, name, fields(jsonb), sections[]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양식 정의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벡터 검색 함수: match_chunks()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77840"/>
            <a:ext cx="502920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222222"/>
                </a:solidFill>
                <a:latin typeface="맑은 고딕"/>
              </a:rPr>
              <a:t>match_chunks(query_embedding, match_count=5, category_filter=NULL)
→ HNSW 인덱스 코사인 유사도 검색
→ 1-(embedding &lt;=&gt; query) = similarity
→ 카테고리 필터 + 상위 K개 반환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AI 헌법 (가드레일) 규칙 6개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5577840"/>
          <a:ext cx="530352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유형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규칙 내용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검사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거부조건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특정 업체를 이유 없이 추천/선호 금지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사전+사후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행동제어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근거 문서에 없는 조항 임의 추가 금지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수치기준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계약금액은 분류체계 문서 수치 인용 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행동제어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법적 판단 요구 시 전문가 상담 권고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사전+사후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거부조건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개인정보 학습/기억 금지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행동제어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답변에 RAG 근거 문서 출처 명시 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06  이용자 가이드 — 챗봇 상담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User Guide: AI Chat Consultation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468880" cy="13716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Phase 1
Chat (상담)
자유 질의응답
RAG 기반 답변
출처 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9488"/>
                </a:solidFill>
                <a:latin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468880" cy="13716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Phase 2
Asked (제안)
구매 의도 감지
RFP 작성 제안
사용자 동의 대기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9488"/>
                </a:solidFill>
                <a:latin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468880" cy="1371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Phase 3
Filling (작성)
RFP 유형 선택
필드 입력
자동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D9488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371600"/>
            <a:ext cx="2468880" cy="1371600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Phase 4
Complete (완료)
PDF 다운로드
공급업체 추천
세션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챗봇 사용 방법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웹 브라우저 접속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001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챗봇 URL 접속 → 왼쪽 채팅 영역 + 오른쪽 RFP 패널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자연어 질문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048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하단 입력창에 질문 입력. 예: "교육 서비스 구매 절차가 어떻게 되나요?"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AI 실시간 답변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974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SSE 스트리밍으로 한 글자씩 답변 표시. 하단에 근거 문서 출처 명시.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39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후속 질문 활용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14603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답변 후 3~5개 후속 질문 제안 버튼 표시. 클릭 시 해당 질문 자동 전송.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69280"/>
            <a:ext cx="36576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669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구매 의도 자동 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6946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맑은 고딕"/>
              </a:rPr>
              <a:t>AI가 구매 의도 인식 → "RFP를 작성해 드릴까요?" 자동 제안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A580C"/>
                </a:solidFill>
                <a:latin typeface="맑은 고딕"/>
              </a:rPr>
              <a:t>TIP: 구체적 질문일수록 정확한 답변!   "구매하고 싶어요" → "법정의무교육 위탁 운영 서비스를 200명 규모로 구매하고 싶습니다"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07-08  RFP 작성 &amp; 공급업체 추천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RFP Generation Flow &amp; Supplier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RFP 유형 (9종)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645920" cy="347472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물품 구매 계약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6459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용역 계약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459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수리/유지보수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리스/임대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1031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공사/시설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1031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컨설팅/자문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물품+유지보수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5603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임대+유지보수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560320"/>
            <a:ext cx="1645920" cy="347472"/>
          </a:xfrm>
          <a:prstGeom prst="round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구매 또는 리스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RFP 작성 방법 (2가지)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2468880" cy="13716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방법 1 — 대화로 입력 (권장)
채팅으로 자연어 입력
→ AI가 필드 자동 추출
→ RFP 패널에 자동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566160"/>
            <a:ext cx="24688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22222"/>
                </a:solidFill>
                <a:latin typeface="맑은 고딕"/>
              </a:rPr>
              <a:t>방법 2 — 직접 입력
오른쪽 RFP 패널의
각 필드를 클릭하여
직접 값을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PDF 다운로드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• 필수 필드 100% 입력 시 다운로드 가능
• 나라장터 스타일 공식 문서 형태
• 구성: 사업명, 발주기관, 담당자, 기간, 목표, 내용, 평가기준, 서명란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맑은 고딕"/>
              </a:rPr>
              <a:t>공급업체 추천 프로세스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4592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645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RFP 완성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874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필수 필드 100% → Complete 페이즈 전환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24028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240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카테고리 매칭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468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RFP 카테고리 기반 공급업체 DB 검색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83464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834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추천 목록 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063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매칭률(%), 만족도 점수, 태그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42900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429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업체 선택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657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추천 목록에서 업체 선택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023360"/>
            <a:ext cx="36576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0233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맑은 고딕"/>
              </a:rPr>
              <a:t>RFP 전송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251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선택한 업체에 제안요청서 전달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공급업체 데이터 구조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217920" y="5166360"/>
          <a:ext cx="5029200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3017520"/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필드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name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업체명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category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간접구매 카테고리 (교육, IT, 시설 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score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0~20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만족도 평점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match_rate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0~100%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카테고리 매칭률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tags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array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특성 태그 (ESG, 중소기업, 여성기업 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status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상태 (active / review / inactive)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09  관리자 포털 가이드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Admin Portal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09728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45920"/>
                <a:gridCol w="804672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메뉴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상세 설명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대시보드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시스템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지식베이스 청크 수, 대화 수, 공급업체 수, 헌법 조항 수 통계 카드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지식베이스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업로드 +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업로드 → 자동 인제스션. 카테고리별 청크/FAQ/문서 수 확인. 10건 페이지네이션.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헌법 관리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가드레일 CRUD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거부조건/행동제어/수치기준 3유형 규칙 추가/수정/삭제. 삭제 확인 모달. 자동 임베딩.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대화 이력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세션별 대화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세션별 대화 자동 저장. 카테고리, RAG 점수, 상태 필터링. 세션 클릭 시 전체 대화 표시.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RFP 신청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제출된 RFP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RFP 목록 조회 (제목·기관·신청자 표시), 섹션별 필드 그룹핑 상세보기, 상태 변경(제출/승인/반려)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RFP 양식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양식 편집기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유형별 섹션/필드 구조 정의, 신규 생성/수정/삭제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공급업체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업체 DB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업체 등록/수정/삭제, CSV 일괄 등록, 카테고리/상태 필터링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사용자 관리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관리자 계정 CRUD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이름/이메일/비밀번호/역할/부서. 역할: superadmin/admin/viewer. 활성화 토글.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역할 기반 접근 제어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806440"/>
          <a:ext cx="5029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권한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superadmin (최고관리자)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전체 기능 접근, 사용자 관리 포함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admin (관리자)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데이터 관리 (사용자 관리 제한)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viewer (뷰어)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조회만 가능 (수정/삭제 불가)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맑은 고딕"/>
              </a:rPr>
              <a:t>접속 정보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5806440"/>
          <a:ext cx="5029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챗봇 URL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https://chatbot-copilot-82b0a.web.app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관리자 URL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위 URL + /admin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관리자 계정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admin@castingn.com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인증 방식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이메일 + SHA256 해시 비밀번호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10  QA 테스트 체크리스트 (1/2)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챗봇 기능 + 페이즈 전환 + RFP + AI 품질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43000"/>
          <a:ext cx="8229600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548640"/>
                <a:gridCol w="2743200"/>
                <a:gridCol w="4114800"/>
                <a:gridCol w="4572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우선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테스트 항목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기대 결과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P/F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챗봇 URL 접속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페이지 정상 로딩, 채팅 입력창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일반 질문 입력 ("간접구매란?")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실시간 스트리밍 답변 + 근거 출처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SSE 스트리밍 동작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텍스트가 한 글자씩 실시간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후속 질문 클릭 버튼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답변 후 3~5개 버튼 표시, 클릭 시 즉시 전송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연속 대화 5회 이상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대화 이력 유지, 컨텍스트 반영 답변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구매 의도 감지 ("교육 구매하고 싶다")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AI가 구매 의도 인식, RFP 작성 제안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동의 ("네, 작성해 주세요")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유형 선택 화면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유형 선택 (9개)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카드 표시, 추천 뱃지, 1회 클릭으로 즉시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대화로 필드 자동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패널에 자동 값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진행률 바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필드 입력 시 실시간 갱신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RFP 완료 → Complete 전환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필수 필드 100% 시 Complete 전환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다운로드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백엔드 통합 렌더링 PDF, 이메일 링크와 동일 출력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공급업체 추천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카테고리 매칭 업체 목록 + 점수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가드레일: 업체 추천 거부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특정 업체 추천 요청 시 공정 안내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AI 가드레일: 법적 판단 거부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법적 판단 요구 시 전문가 상담 권고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환각 방지 (없는 정보)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지식베이스에 없는 내용 생성 금지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출처 정확성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표시된 출처가 실제 답변 내용과 관련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10  QA 테스트 체크리스트 (2/2)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관리자 포털 + 비기능 테스트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43000"/>
          <a:ext cx="8229600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548640"/>
                <a:gridCol w="2743200"/>
                <a:gridCol w="4114800"/>
                <a:gridCol w="4572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우선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테스트 항목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기대 결과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P/F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관리자 정상 로그인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올바른 계정 입력 시 대시보드 진입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19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잘못된 비밀번호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오류 메시지 "비밀번호가 일치하지 않습니다"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 통계 표시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4개 카드 숫자 정상 표시, 1초 이내 로드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업로드 (지식베이스)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업로드 → 자동 인제스션 → 성공 메시지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지식베이스 페이지네이션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10건 단위 페이징 정상 동작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헌법 규칙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유형 선택 → 내용 입력 → 저장 → 목록 반영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헌법 규칙 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삭제 버튼 → 확인 모달 → 삭제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대화 이력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세션별 대화 목록 + 상세 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공급업체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필수 정보 입력 → 저장 → 목록 반영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공급업체 CSV 일괄 등록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CSV 업로드 → N건 등록 성공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사용자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이름/이메일/비밀번호/역할 → 생성 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29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중복 이메일 방지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이미 등록된 이메일 → 오류 메시지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30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HTTPS 통신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모든 통신 HTTPS (자물쇠 아이콘)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채팅 P95 응답 시간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첫 토큰까지 3초 이내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Chrome / Edge 호환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전 기능 정상 동작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MID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모바일 반응형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모바일 브라우저 레이아웃 정상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PDF 인쇄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A4 사이즈 정상 인쇄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맑은 고딕"/>
              </a:rPr>
              <a:t>판정: PASS ☑ / FAIL ☒ / N/A —    |    우선순위: HIGH 필수통과 / MID 출시전수정 / LOW 차기업데이트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테스트 결과 요약 및 승인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QA Test Summary &amp;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914400"/>
                <a:gridCol w="914400"/>
                <a:gridCol w="914400"/>
                <a:gridCol w="9144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테스트 영역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항목 수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PASS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FAIL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N/A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통과율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챗봇 기본 기능 (접속/채팅/스트리밍)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페이즈 전환 (Chat→Asked→Filling→Complete)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RFP 작성 + PDF 다운로드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공급업체 추천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AI 응답 품질 + 가드레일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관리자 로그인 / 인증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관리자 기능 (지식베이스/헌법/이력/공급업체/사용자)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비기능 (성능/보안/호환성)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맑은 고딕"/>
              </a:rPr>
              <a:t>테스트 승인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669280"/>
          <a:ext cx="7315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성명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서명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일자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테스트 수행자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2026.    .    .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검수 담당자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2026.    .    .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최종 승인자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2026.    .    .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</a:pPr>
            <a:r>
              <a:rPr sz="2400" b="1">
                <a:solidFill>
                  <a:srgbClr val="FFFFFF"/>
                </a:solidFill>
                <a:latin typeface="맑은 고딕"/>
              </a:rPr>
              <a:t>    테스트 가능 카테고리 (지식베이스 현황)</a:t>
            </a:r>
          </a:p>
          <a:p>
            <a:pPr algn="l"/>
            <a:r>
              <a:rPr sz="1200">
                <a:solidFill>
                  <a:srgbClr val="AAAAAA"/>
                </a:solidFill>
                <a:latin typeface="맑은 고딕"/>
              </a:rPr>
              <a:t>    현재 청킹 완료된 18개 카테고리 — 전체 분류체계의 약 10%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6666"/>
                </a:solidFill>
                <a:latin typeface="맑은 고딕"/>
              </a:rPr>
              <a:t>업무마켓9 — IP Assist | (주)캐스팅엔 | 2026.03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맑은 고딕"/>
              </a:rPr>
              <a:t>아래 18개 카테고리에 대해 RAG 기반 상담 및 RFP 생성 테스트가 가능합니다. (전체 분류체계의 약 10% 수준)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463040"/>
          <a:ext cx="8138160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474720"/>
                <a:gridCol w="822960"/>
                <a:gridCol w="822960"/>
                <a:gridCol w="822960"/>
                <a:gridCol w="1828800"/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청크 수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FAQ 수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문서 수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테스트 범위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OA기기 렌탈 및 유지보수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PC·노트북·모니터·워크스테이션 구매·리스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건강검진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계측기 구매·리스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공기청정기 렌탈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공장용 소모품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법무·노무 자문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복합기·프린터 유지보수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사무가구 구매 및 유지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사무실 인테리어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생산장비 구매·수리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운전용역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의약품 구매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 + 공급업체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임원차량 리스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청소·소독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칸막이(파티션) 레이아웃 공사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택배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회계·세무 용역 서비스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</a:rPr>
                        <a:t>상담 + 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6355080"/>
            <a:ext cx="116128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합계:  782 청크  |  1,000 FAQ  |  77 문서  |  18 카테고리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37E"/>
                </a:solidFill>
              </a:rPr>
              <a:t>v1.1 변경 이력  (2026.03.10)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3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Change Log — v1.0 → v1.1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5486400"/>
              </a:tblGrid>
              <a:tr h="508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변경 내용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대화 이력 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chat/stream, /chat 양쪽 엔드포인트에서 세션 기반 conversations 테이블 자동 upsert. 관리자 대화이력 탭 정상 표시.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 b="0"/>
                        <a:t>2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RFP PDF 통합 렌더링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이메일 링크 RFP 보기(rfp_view.py)와 PDF 다운로드를 동일 백엔드 렌더링 로직으로 통합. 섹션→필드 매핑을 순차 카운트 기반으로 변경.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RFP 분류 정확도 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렌탈/리스 키워드 오버라이드 추가. '공기청정기 렌탈' → rental 유형 정확 매핑. 비품/소모품·건물관리 등 9개 카테고리 매핑 전면 재점검.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 b="0"/>
                        <a:t>4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RFP 질문 맥락 인식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filling 중 rfp_question 의도 감지 시 사업명+RFP유형으로 검색 쿼리 보강. 해당 카테고리 문서 우선 검색 후 답변 생성.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후속 질문 클릭 버튼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제안 텍스트를 클릭 가능 버튼으로 변경. 1-click으로 해당 질문 즉시 전송.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 b="0"/>
                        <a:t>6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RFP 유형 선택 UX 개선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translateY 애니메이션 제거, transition 범위 축소, stopPropagation 적용. 1회 클릭으로 즉시 선택.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 b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/>
                        <a:t>관리자 RFP 상세 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/>
                        <a:t>RFP 상세 모달: 제목·기관·신청자 표시, 섹션별 필드 그룹핑 + 색상 구분 dot, 9개 유형별 섹션 구조 정의.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900" b="0"/>
                        <a:t>8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관리자 RFP 목록 수정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/>
                        <a:t>API select에 title, org_name, requester, rfp_type, fields 컬럼 추가. '제목 없음' 문제 해결.</a:t>
                      </a:r>
                    </a:p>
                  </a:txBody>
                  <a:tcPr>
                    <a:solidFill>
                      <a:srgbClr val="F0F0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8229600" cy="2746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99999"/>
                </a:solidFill>
              </a:rPr>
              <a:t>업무마켓9 — IP Assist | (주)캐스팅엔 | 2026.03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